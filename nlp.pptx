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23" r:id="rId10"/>
    <p:sldId id="326" r:id="rId11"/>
    <p:sldId id="315" r:id="rId12"/>
    <p:sldId id="324" r:id="rId13"/>
    <p:sldId id="317" r:id="rId14"/>
    <p:sldId id="319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C8C"/>
    <a:srgbClr val="202C8F"/>
    <a:srgbClr val="FDFBF6"/>
    <a:srgbClr val="AAC4E9"/>
    <a:srgbClr val="F5CDCE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824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66BAC-B977-114F-0918-3A1CFA39D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B4950-78D8-0E19-0515-E157D9170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BDDBC-DACA-F5E4-36FC-AE7148CE6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92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DE4AD-AE07-EB9E-4836-BD4E9B0C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F644A-88AC-73D4-9963-92BB5018D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A0F90-3211-2C63-D0CC-D9B61DBEC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736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8E36-CAD9-CA9A-9ACE-8B8D4C7C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EF84F-F2AC-AA36-C2AB-979EA4AE1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07584-E72B-D18A-6EDB-A21F3A8C0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894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2621" y="664892"/>
            <a:ext cx="6392421" cy="3831221"/>
          </a:xfrm>
        </p:spPr>
        <p:txBody>
          <a:bodyPr anchor="ctr"/>
          <a:lstStyle/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5448B-4C73-2C96-0AB9-92CDCF3B0D55}"/>
              </a:ext>
            </a:extLst>
          </p:cNvPr>
          <p:cNvSpPr txBox="1"/>
          <p:nvPr/>
        </p:nvSpPr>
        <p:spPr>
          <a:xfrm>
            <a:off x="3026958" y="1191733"/>
            <a:ext cx="64371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Language Processing</a:t>
            </a:r>
          </a:p>
          <a:p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</a:t>
            </a:r>
            <a:r>
              <a:rPr lang="fa-IR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NLP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97523-2F9B-FBD2-C567-36C848A688C9}"/>
              </a:ext>
            </a:extLst>
          </p:cNvPr>
          <p:cNvSpPr txBox="1"/>
          <p:nvPr/>
        </p:nvSpPr>
        <p:spPr>
          <a:xfrm>
            <a:off x="4175204" y="2682366"/>
            <a:ext cx="37363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200" dirty="0">
                <a:latin typeface="IRAban" panose="02000503000000020002" pitchFamily="2" charset="-78"/>
                <a:cs typeface="IRAban" panose="02000503000000020002" pitchFamily="2" charset="-78"/>
              </a:rPr>
              <a:t>پردازش</a:t>
            </a:r>
            <a:endParaRPr lang="en-US" sz="32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ctr"/>
            <a:r>
              <a:rPr lang="fa-IR" sz="3200" dirty="0">
                <a:latin typeface="IRAban" panose="02000503000000020002" pitchFamily="2" charset="-78"/>
                <a:cs typeface="IRAban" panose="02000503000000020002" pitchFamily="2" charset="-78"/>
              </a:rPr>
              <a:t> زبان</a:t>
            </a:r>
            <a:endParaRPr lang="en-US" sz="32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ctr"/>
            <a:r>
              <a:rPr lang="fa-IR" sz="3200" dirty="0">
                <a:latin typeface="IRAban" panose="02000503000000020002" pitchFamily="2" charset="-78"/>
                <a:cs typeface="IRAban" panose="02000503000000020002" pitchFamily="2" charset="-78"/>
              </a:rPr>
              <a:t> طبیعی</a:t>
            </a:r>
            <a:endParaRPr lang="en-US" sz="3200" dirty="0"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07E972-F8A0-B8E8-60A1-02A9FF24A4C3}"/>
              </a:ext>
            </a:extLst>
          </p:cNvPr>
          <p:cNvSpPr txBox="1"/>
          <p:nvPr/>
        </p:nvSpPr>
        <p:spPr>
          <a:xfrm>
            <a:off x="1544185" y="6008442"/>
            <a:ext cx="401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V Boli" panose="02000500030200090000" pitchFamily="2" charset="0"/>
                <a:ea typeface="Tahoma" panose="020B0604030504040204" pitchFamily="34" charset="0"/>
                <a:cs typeface="MV Boli" panose="02000500030200090000" pitchFamily="2" charset="0"/>
              </a:rPr>
              <a:t>Amirhossein </a:t>
            </a:r>
            <a:r>
              <a:rPr lang="en-US" b="1" dirty="0" err="1">
                <a:solidFill>
                  <a:schemeClr val="bg1"/>
                </a:solidFill>
                <a:latin typeface="MV Boli" panose="02000500030200090000" pitchFamily="2" charset="0"/>
                <a:ea typeface="Tahoma" panose="020B0604030504040204" pitchFamily="34" charset="0"/>
                <a:cs typeface="MV Boli" panose="02000500030200090000" pitchFamily="2" charset="0"/>
              </a:rPr>
              <a:t>F.bayati</a:t>
            </a:r>
            <a:r>
              <a:rPr lang="en-US" b="1" dirty="0">
                <a:solidFill>
                  <a:schemeClr val="bg1"/>
                </a:solidFill>
                <a:latin typeface="MV Boli" panose="02000500030200090000" pitchFamily="2" charset="0"/>
                <a:ea typeface="Tahoma" panose="020B0604030504040204" pitchFamily="34" charset="0"/>
                <a:cs typeface="MV Boli" panose="02000500030200090000" pitchFamily="2" charset="0"/>
              </a:rPr>
              <a:t> – </a:t>
            </a:r>
            <a:r>
              <a:rPr lang="en-US" b="1" dirty="0" err="1">
                <a:solidFill>
                  <a:schemeClr val="bg1"/>
                </a:solidFill>
                <a:latin typeface="MV Boli" panose="02000500030200090000" pitchFamily="2" charset="0"/>
                <a:ea typeface="Tahoma" panose="020B0604030504040204" pitchFamily="34" charset="0"/>
                <a:cs typeface="MV Boli" panose="02000500030200090000" pitchFamily="2" charset="0"/>
              </a:rPr>
              <a:t>Aban</a:t>
            </a:r>
            <a:r>
              <a:rPr lang="en-US" b="1" dirty="0">
                <a:solidFill>
                  <a:schemeClr val="bg1"/>
                </a:solidFill>
                <a:latin typeface="MV Boli" panose="02000500030200090000" pitchFamily="2" charset="0"/>
                <a:ea typeface="Tahoma" panose="020B0604030504040204" pitchFamily="34" charset="0"/>
                <a:cs typeface="MV Boli" panose="02000500030200090000" pitchFamily="2" charset="0"/>
              </a:rPr>
              <a:t> 1403 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6" y="385772"/>
            <a:ext cx="5955775" cy="860488"/>
          </a:xfrm>
        </p:spPr>
        <p:txBody>
          <a:bodyPr/>
          <a:lstStyle/>
          <a:p>
            <a:pPr algn="r"/>
            <a:br>
              <a:rPr lang="fa-IR" sz="1100" dirty="0">
                <a:latin typeface="IRAban" panose="02000503000000020002" pitchFamily="2" charset="-78"/>
                <a:ea typeface="Tahoma" panose="020B0604030504040204" pitchFamily="34" charset="0"/>
                <a:cs typeface="IRAban" panose="02000503000000020002" pitchFamily="2" charset="-78"/>
              </a:rPr>
            </a:br>
            <a:r>
              <a:rPr lang="en-US" sz="3200" dirty="0">
                <a:latin typeface="IRAban" panose="02000503000000020002" pitchFamily="2" charset="-78"/>
                <a:ea typeface="Tahoma" panose="020B0604030504040204" pitchFamily="34" charset="0"/>
                <a:cs typeface="IRAban" panose="02000503000000020002" pitchFamily="2" charset="-78"/>
              </a:rPr>
              <a:t>NLP</a:t>
            </a:r>
            <a:br>
              <a:rPr lang="fa-IR" sz="1100" dirty="0">
                <a:latin typeface="IRAban" panose="02000503000000020002" pitchFamily="2" charset="-78"/>
                <a:ea typeface="Tahoma" panose="020B0604030504040204" pitchFamily="34" charset="0"/>
                <a:cs typeface="IRAban" panose="02000503000000020002" pitchFamily="2" charset="-78"/>
              </a:rPr>
            </a:br>
            <a:r>
              <a:rPr lang="fa-IR" sz="1400" dirty="0">
                <a:latin typeface="IRAban" panose="02000503000000020002" pitchFamily="2" charset="-78"/>
                <a:ea typeface="Tahoma" panose="020B0604030504040204" pitchFamily="34" charset="0"/>
                <a:cs typeface="IRAban" panose="02000503000000020002" pitchFamily="2" charset="-78"/>
              </a:rPr>
              <a:t>پردازش زبان طبیعی در مورد آموزش کامپیوترها برای درک زبان انسان است. این به این معنی است که رایانه‌ها را قادر می‌سازید تا بخوانند، گوش دهند و به روش‌هایی که برای مردم منطقی است پاسخ دهند.</a:t>
            </a:r>
            <a:endParaRPr lang="en-US" sz="1400" dirty="0">
              <a:latin typeface="IRAban" panose="02000503000000020002" pitchFamily="2" charset="-78"/>
              <a:ea typeface="Tahoma" panose="020B0604030504040204" pitchFamily="34" charset="0"/>
              <a:cs typeface="IRAban" panose="02000503000000020002" pitchFamily="2" charset="-7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7517686-A2BD-4493-FE73-05000AAE6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3356" y="1364298"/>
            <a:ext cx="6011451" cy="3551381"/>
          </a:xfr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C458C23-B755-360F-3894-750ED50B38ED}"/>
              </a:ext>
            </a:extLst>
          </p:cNvPr>
          <p:cNvSpPr txBox="1">
            <a:spLocks/>
          </p:cNvSpPr>
          <p:nvPr/>
        </p:nvSpPr>
        <p:spPr>
          <a:xfrm>
            <a:off x="140225" y="5213454"/>
            <a:ext cx="5955775" cy="860488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fa-IR" sz="1100" dirty="0">
                <a:latin typeface="IRAban" panose="02000503000000020002" pitchFamily="2" charset="-78"/>
                <a:ea typeface="Tahoma" panose="020B0604030504040204" pitchFamily="34" charset="0"/>
                <a:cs typeface="IRAban" panose="02000503000000020002" pitchFamily="2" charset="-78"/>
              </a:rPr>
            </a:br>
            <a:br>
              <a:rPr lang="fa-IR" sz="1100" dirty="0">
                <a:latin typeface="IRAban" panose="02000503000000020002" pitchFamily="2" charset="-78"/>
                <a:ea typeface="Tahoma" panose="020B0604030504040204" pitchFamily="34" charset="0"/>
                <a:cs typeface="IRAban" panose="02000503000000020002" pitchFamily="2" charset="-78"/>
              </a:rPr>
            </a:b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پردازش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زبان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طبیعی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زبانشناسی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را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علوم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کامپیوتر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ترکیب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کند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به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کامپیوترها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امکان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درک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معنای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کلمات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و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جملات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را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بدهد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.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ان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ال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پی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از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ترکیبی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از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قوانین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و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الگوریتم‌ها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استفاده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می‌کند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معنای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پشت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کلماتی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که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تایپ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می‌کنیم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یا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می‌گوییم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را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en-US" sz="1400" dirty="0" err="1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بفهمد</a:t>
            </a:r>
            <a:endParaRPr lang="en-US" sz="1400" dirty="0">
              <a:latin typeface="IRAban" panose="02000503000000020002" pitchFamily="2" charset="-78"/>
              <a:ea typeface="Tahoma" panose="020B0604030504040204" pitchFamily="34" charset="0"/>
              <a:cs typeface="IRAban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D0EDA1-984C-8FD9-B4B0-CEF9E2804F5A}"/>
              </a:ext>
            </a:extLst>
          </p:cNvPr>
          <p:cNvSpPr txBox="1"/>
          <p:nvPr/>
        </p:nvSpPr>
        <p:spPr>
          <a:xfrm>
            <a:off x="248281" y="369394"/>
            <a:ext cx="3869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History and evolution of NLP: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E98B6-F56C-F79A-D05E-17B92AA3AF5C}"/>
              </a:ext>
            </a:extLst>
          </p:cNvPr>
          <p:cNvSpPr txBox="1"/>
          <p:nvPr/>
        </p:nvSpPr>
        <p:spPr>
          <a:xfrm>
            <a:off x="2525198" y="817510"/>
            <a:ext cx="7000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دهه ۱۹۵۰: آغاز با قوانین ساده</a:t>
            </a:r>
            <a:endParaRPr lang="en-US" sz="14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/>
            <a:endParaRPr lang="fa-IR" sz="14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ماشین ترجمه اولیه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: اولین تلاش‌ها برای ترجمه خودکار زبان‌ها انجام شد، مانند ترجمه بین انگلیسی و روسی برای مقاصد نظامی.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سیستم‌های پردازشی در این دوره بیشتر مبتنی بر </a:t>
            </a: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دیکشنری‌های ساده و گرامرهای از پیش تعریف‌شده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بودند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spirit is willing, but the flesh is weak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vodka is good, but the meat is rotten</a:t>
            </a:r>
            <a:endParaRPr lang="en-US" sz="1400" dirty="0">
              <a:solidFill>
                <a:schemeClr val="accent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>
              <a:buFont typeface="Arial" panose="020B0604020202020204" pitchFamily="34" charset="0"/>
              <a:buChar char="•"/>
            </a:pPr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D6004-3311-72FB-0179-80876BA116F3}"/>
              </a:ext>
            </a:extLst>
          </p:cNvPr>
          <p:cNvSpPr txBox="1"/>
          <p:nvPr/>
        </p:nvSpPr>
        <p:spPr>
          <a:xfrm>
            <a:off x="2525198" y="2848835"/>
            <a:ext cx="7000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sz="14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دهه ۱۹۶۰-۱۹۷۰: تمرکز بر زبان‌شناسی</a:t>
            </a:r>
            <a:endParaRPr lang="en-US" sz="14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گرامرهای چامسکی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: استفاده از دستور زبان زایشی برای مدل‌سازی ساختار زبان انسانی.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پروژه </a:t>
            </a:r>
            <a:r>
              <a:rPr lang="en-US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ELIZA (1966)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یکی از اولین چت‌بات‌ها، که با قوانین ساده پاسخ‌هایی شبیه به روان‌درمانی تولید می‌کرد.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سیستم‌ها هنوز بسیار محدود و وابسته به </a:t>
            </a: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قوانین ثابت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بودند.</a:t>
            </a:r>
          </a:p>
          <a:p>
            <a:pPr algn="r">
              <a:buFont typeface="Arial" panose="020B0604020202020204" pitchFamily="34" charset="0"/>
              <a:buChar char="•"/>
            </a:pPr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92737A-C7F2-AD70-0F2F-304C85140E1D}"/>
              </a:ext>
            </a:extLst>
          </p:cNvPr>
          <p:cNvSpPr txBox="1"/>
          <p:nvPr/>
        </p:nvSpPr>
        <p:spPr>
          <a:xfrm>
            <a:off x="4287386" y="817510"/>
            <a:ext cx="70003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400" u="sng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دهه ۱۹۸۰-۱۹۹۰: ظهور روش‌های آماری</a:t>
            </a:r>
            <a:r>
              <a:rPr lang="en-US" sz="1400" u="sng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:</a:t>
            </a:r>
            <a:r>
              <a:rPr lang="fa-IR" sz="1400" u="sng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endParaRPr lang="en-US" sz="1400" u="sng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استفاده از مدل‌های احتمالی و داده‌های واقعی برای حل مشکلات زبانی. </a:t>
            </a:r>
          </a:p>
          <a:p>
            <a:pPr algn="r" rtl="1"/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مدل مارکوف پنهان 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HMM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برای کاربردهایی مانند تبدیل گفتار به متن. </a:t>
            </a:r>
          </a:p>
          <a:p>
            <a:pPr algn="r" rtl="1"/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پیشرفت در ترجمه ماشینی آماری 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Statistical Machine Translation - SMT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113DE1-B841-3A22-3E38-9075DD49D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29" y="817510"/>
            <a:ext cx="4061308" cy="32490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48F1E9-1A6B-8C37-A55F-81F24DA6C3EB}"/>
              </a:ext>
            </a:extLst>
          </p:cNvPr>
          <p:cNvSpPr txBox="1"/>
          <p:nvPr/>
        </p:nvSpPr>
        <p:spPr>
          <a:xfrm>
            <a:off x="5180590" y="3962998"/>
            <a:ext cx="61071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دهه ۲۰۰۰ و بعد از آن: یادگیری عمیق و ترنسفورمرها</a:t>
            </a:r>
            <a:endParaRPr lang="en-US" sz="14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شبکه‌های عصبی عمیق </a:t>
            </a:r>
            <a:r>
              <a:rPr lang="en-US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Deep Neural Networks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جایگزین مدل‌های آماری سنتی شدند.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استفاده از </a:t>
            </a: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ترنسفورمرها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و ظهور مدل‌های قدرتمندی مانند 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BERT 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و 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GPT، 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که درک زبان انسانی را متحول کردند.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C13BDD-0A5A-E184-BEE6-6095656AE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08" y="4129939"/>
            <a:ext cx="4433738" cy="217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890" y="1703808"/>
            <a:ext cx="3963636" cy="1245283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- Unstructured - </a:t>
            </a:r>
            <a:br>
              <a:rPr lang="en-US" sz="1800" dirty="0"/>
            </a:br>
            <a:br>
              <a:rPr lang="en-US" sz="1800" dirty="0"/>
            </a:br>
            <a:r>
              <a:rPr lang="en-US" sz="2000" dirty="0"/>
              <a:t>add Egg and milk </a:t>
            </a:r>
            <a:br>
              <a:rPr lang="en-US" sz="2000" dirty="0"/>
            </a:br>
            <a:r>
              <a:rPr lang="en-US" sz="2000" dirty="0"/>
              <a:t>to My shopping list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A154C9-069F-EDB9-FD2D-AEFACF689E93}"/>
              </a:ext>
            </a:extLst>
          </p:cNvPr>
          <p:cNvSpPr txBox="1">
            <a:spLocks/>
          </p:cNvSpPr>
          <p:nvPr/>
        </p:nvSpPr>
        <p:spPr>
          <a:xfrm>
            <a:off x="8289995" y="1703808"/>
            <a:ext cx="3963636" cy="1893885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Structured  - 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&lt;shopping list&gt;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&lt;item&gt; </a:t>
            </a:r>
            <a:r>
              <a:rPr lang="en-US" sz="2000" dirty="0"/>
              <a:t>Egg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&lt;item/&gt;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&lt;item&gt; </a:t>
            </a:r>
            <a:r>
              <a:rPr lang="en-US" sz="2000" dirty="0"/>
              <a:t>milk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&lt;item/&gt;</a:t>
            </a:r>
            <a:br>
              <a:rPr lang="en-US" sz="2000" dirty="0"/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&lt;/&gt;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8707F-9A5E-CF95-2F71-65A9EF2798BC}"/>
              </a:ext>
            </a:extLst>
          </p:cNvPr>
          <p:cNvSpPr txBox="1"/>
          <p:nvPr/>
        </p:nvSpPr>
        <p:spPr>
          <a:xfrm>
            <a:off x="2507030" y="139280"/>
            <a:ext cx="2035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How it works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8317ED7-B7F1-30A4-BED0-ACB9CF54675A}"/>
              </a:ext>
            </a:extLst>
          </p:cNvPr>
          <p:cNvSpPr/>
          <p:nvPr/>
        </p:nvSpPr>
        <p:spPr>
          <a:xfrm>
            <a:off x="6673302" y="2034691"/>
            <a:ext cx="1332239" cy="6358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618ED1-70E6-1F64-241F-4C599348CFC5}"/>
              </a:ext>
            </a:extLst>
          </p:cNvPr>
          <p:cNvSpPr txBox="1"/>
          <p:nvPr/>
        </p:nvSpPr>
        <p:spPr>
          <a:xfrm>
            <a:off x="4054244" y="4534422"/>
            <a:ext cx="6134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وظیفه پردازش زبان طبیعی این است که بین این دو نوع داده ترجمه انجام دهد. بنابراین، </a:t>
            </a:r>
            <a:r>
              <a:rPr lang="en-US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NLP </a:t>
            </a:r>
            <a:r>
              <a:rPr lang="fa-IR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دقیقاً در میانه کار قرار می‌گیرد و بین داده‌های بدون ساختار و ساختارمند تبدیل انجام می‌دهد.</a:t>
            </a:r>
            <a:endParaRPr lang="en-US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37E7-338C-1C24-6301-9201E209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A865-9312-3EBA-8960-B07B1C84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890" y="1703808"/>
            <a:ext cx="3963636" cy="1245283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- Unstructured - </a:t>
            </a:r>
            <a:br>
              <a:rPr lang="en-US" sz="1800" dirty="0"/>
            </a:br>
            <a:br>
              <a:rPr lang="en-US" sz="1800" dirty="0"/>
            </a:br>
            <a:r>
              <a:rPr lang="en-US" sz="2000" dirty="0"/>
              <a:t>add Egg and milk </a:t>
            </a:r>
            <a:br>
              <a:rPr lang="en-US" sz="2000" dirty="0"/>
            </a:br>
            <a:r>
              <a:rPr lang="en-US" sz="2000" dirty="0"/>
              <a:t>to My shopping list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7850BE1-0415-8E4C-5E8E-ED38C44AF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30DCBF-631A-1C72-681F-FF488CB9B699}"/>
              </a:ext>
            </a:extLst>
          </p:cNvPr>
          <p:cNvSpPr txBox="1">
            <a:spLocks/>
          </p:cNvSpPr>
          <p:nvPr/>
        </p:nvSpPr>
        <p:spPr>
          <a:xfrm>
            <a:off x="8289995" y="1703808"/>
            <a:ext cx="3963636" cy="1893885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tx1"/>
                </a:solidFill>
              </a:rPr>
              <a:t>Structured  - 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&lt;shopping list&gt;</a:t>
            </a:r>
          </a:p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&lt;item&gt; </a:t>
            </a:r>
            <a:r>
              <a:rPr lang="en-US" sz="2000" dirty="0"/>
              <a:t>Egg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&lt;item/&gt;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&lt;item&gt; </a:t>
            </a:r>
            <a:r>
              <a:rPr lang="en-US" sz="2000" dirty="0"/>
              <a:t>milk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&lt;item/&gt;</a:t>
            </a:r>
            <a:br>
              <a:rPr lang="en-US" sz="2000" dirty="0"/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&lt;/&gt;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60BB5-A126-7105-8E33-48D90368582E}"/>
              </a:ext>
            </a:extLst>
          </p:cNvPr>
          <p:cNvSpPr txBox="1"/>
          <p:nvPr/>
        </p:nvSpPr>
        <p:spPr>
          <a:xfrm>
            <a:off x="2507030" y="139280"/>
            <a:ext cx="2035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How it works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3EB7B43-C3AB-7329-8558-9C93868476CC}"/>
              </a:ext>
            </a:extLst>
          </p:cNvPr>
          <p:cNvSpPr/>
          <p:nvPr/>
        </p:nvSpPr>
        <p:spPr>
          <a:xfrm>
            <a:off x="6467411" y="2219388"/>
            <a:ext cx="1332239" cy="6358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AF31CF-A8E6-E5E5-E595-4A6340D3816D}"/>
              </a:ext>
            </a:extLst>
          </p:cNvPr>
          <p:cNvSpPr/>
          <p:nvPr/>
        </p:nvSpPr>
        <p:spPr>
          <a:xfrm>
            <a:off x="6273632" y="3148929"/>
            <a:ext cx="1526018" cy="6358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+mj-lt"/>
              </a:rPr>
              <a:t>NLP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AE57AE-66DF-8BEF-B519-B7635D6DE699}"/>
              </a:ext>
            </a:extLst>
          </p:cNvPr>
          <p:cNvCxnSpPr>
            <a:stCxn id="3" idx="2"/>
          </p:cNvCxnSpPr>
          <p:nvPr/>
        </p:nvCxnSpPr>
        <p:spPr>
          <a:xfrm flipH="1">
            <a:off x="6328132" y="3784771"/>
            <a:ext cx="708509" cy="575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2DD6E4-5086-0B8B-028E-57F6B9A59FA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7036641" y="3784771"/>
            <a:ext cx="872011" cy="575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99DA784-2538-5D48-1D9A-56DCC1381669}"/>
              </a:ext>
            </a:extLst>
          </p:cNvPr>
          <p:cNvSpPr/>
          <p:nvPr/>
        </p:nvSpPr>
        <p:spPr>
          <a:xfrm>
            <a:off x="5695317" y="4420613"/>
            <a:ext cx="1129377" cy="5458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NLU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D9833D-1B13-6D7B-49CD-131F77596879}"/>
              </a:ext>
            </a:extLst>
          </p:cNvPr>
          <p:cNvSpPr/>
          <p:nvPr/>
        </p:nvSpPr>
        <p:spPr>
          <a:xfrm>
            <a:off x="7415117" y="4450037"/>
            <a:ext cx="1129377" cy="5458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NLG</a:t>
            </a: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B4EE3304-5B89-96B7-0FBB-963FC054388C}"/>
              </a:ext>
            </a:extLst>
          </p:cNvPr>
          <p:cNvSpPr/>
          <p:nvPr/>
        </p:nvSpPr>
        <p:spPr>
          <a:xfrm>
            <a:off x="7472646" y="5066385"/>
            <a:ext cx="1391279" cy="175613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790C940-1D9D-2FFF-0FE8-868DD8472E23}"/>
              </a:ext>
            </a:extLst>
          </p:cNvPr>
          <p:cNvSpPr/>
          <p:nvPr/>
        </p:nvSpPr>
        <p:spPr>
          <a:xfrm>
            <a:off x="5564365" y="5092791"/>
            <a:ext cx="1391279" cy="16350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8785-8811-79C5-811C-3A1930499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EED04-02DF-9C98-0F19-A4C8D873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255" y="-12302"/>
            <a:ext cx="7796464" cy="705245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Steps </a:t>
            </a:r>
            <a:r>
              <a:rPr lang="en-US" sz="2000" b="0" dirty="0">
                <a:solidFill>
                  <a:schemeClr val="tx1"/>
                </a:solidFill>
              </a:rPr>
              <a:t>of 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0A17B3-B69B-B714-4A27-0BBCA675E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B8DC83C-94CA-FE24-4D3B-C357A42BD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502" y="786996"/>
            <a:ext cx="3283119" cy="615785"/>
          </a:xfrm>
        </p:spPr>
        <p:txBody>
          <a:bodyPr>
            <a:normAutofit/>
          </a:bodyPr>
          <a:lstStyle/>
          <a:p>
            <a:pPr rtl="1"/>
            <a:r>
              <a:rPr lang="en-US" sz="2400" dirty="0">
                <a:latin typeface="+mj-lt"/>
              </a:rPr>
              <a:t>1.Normalization:</a:t>
            </a:r>
          </a:p>
          <a:p>
            <a:pPr rtl="1"/>
            <a:endParaRPr lang="en-US" dirty="0">
              <a:latin typeface="+mj-lt"/>
            </a:endParaRPr>
          </a:p>
          <a:p>
            <a:pPr rtl="1"/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D038A-257B-196C-1366-92F9C696EA0B}"/>
              </a:ext>
            </a:extLst>
          </p:cNvPr>
          <p:cNvSpPr txBox="1"/>
          <p:nvPr/>
        </p:nvSpPr>
        <p:spPr>
          <a:xfrm>
            <a:off x="631299" y="1233223"/>
            <a:ext cx="8203864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400" b="1" dirty="0">
                <a:latin typeface="+mj-lt"/>
                <a:cs typeface="IRAban" panose="02000503000000020002" pitchFamily="2" charset="-78"/>
              </a:rPr>
              <a:t>Lowercasing</a:t>
            </a:r>
          </a:p>
          <a:p>
            <a:pPr algn="r" rtl="1"/>
            <a:endParaRPr lang="en-US" sz="1400" b="1" dirty="0">
              <a:latin typeface="+mj-lt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latin typeface="IRAban" panose="02000503000000020002" pitchFamily="2" charset="-78"/>
                <a:cs typeface="IRAban" panose="02000503000000020002" pitchFamily="2" charset="-78"/>
              </a:rPr>
              <a:t>تبدیل تمامی حروف به حالت کوچک.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latin typeface="IRAban" panose="02000503000000020002" pitchFamily="2" charset="-78"/>
                <a:cs typeface="IRAban" panose="02000503000000020002" pitchFamily="2" charset="-78"/>
              </a:rPr>
              <a:t>برای جلوگیری از اشتباهاتی که به دلیل حساسیت به بزرگی/کوچکی حروف پیش می‌آید.</a:t>
            </a:r>
            <a:endParaRPr lang="en-US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fa-IR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sz="1600" i="1" dirty="0">
                <a:latin typeface="IRAban" panose="02000503000000020002" pitchFamily="2" charset="-78"/>
                <a:cs typeface="IRAban" panose="02000503000000020002" pitchFamily="2" charset="-78"/>
              </a:rPr>
              <a:t>Apple</a:t>
            </a:r>
            <a:r>
              <a:rPr lang="en-US" sz="1600" dirty="0">
                <a:latin typeface="IRAban" panose="02000503000000020002" pitchFamily="2" charset="-78"/>
                <a:cs typeface="IRAban" panose="02000503000000020002" pitchFamily="2" charset="-78"/>
              </a:rPr>
              <a:t> → </a:t>
            </a:r>
            <a:r>
              <a:rPr lang="en-US" sz="1600" i="1" dirty="0">
                <a:latin typeface="IRAban" panose="02000503000000020002" pitchFamily="2" charset="-78"/>
                <a:cs typeface="IRAban" panose="02000503000000020002" pitchFamily="2" charset="-78"/>
              </a:rPr>
              <a:t>apple</a:t>
            </a:r>
            <a:endParaRPr lang="en-US" sz="1600" dirty="0"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5E6E02-9FCA-EFF1-4910-E36DA2B8EBC4}"/>
              </a:ext>
            </a:extLst>
          </p:cNvPr>
          <p:cNvSpPr txBox="1"/>
          <p:nvPr/>
        </p:nvSpPr>
        <p:spPr>
          <a:xfrm>
            <a:off x="2740173" y="2965866"/>
            <a:ext cx="609499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400" b="1" dirty="0">
                <a:latin typeface="+mj-lt"/>
                <a:cs typeface="IRAban" panose="02000503000000020002" pitchFamily="2" charset="-78"/>
              </a:rPr>
              <a:t>Removing numbers</a:t>
            </a:r>
          </a:p>
          <a:p>
            <a:pPr algn="r" rtl="1"/>
            <a:endParaRPr lang="en-US" sz="1400" b="1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latin typeface="IRAban" panose="02000503000000020002" pitchFamily="2" charset="-78"/>
                <a:cs typeface="IRAban" panose="02000503000000020002" pitchFamily="2" charset="-78"/>
              </a:rPr>
              <a:t>حذف اعداد از متن در مواقعی که اهمیت ندارند.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latin typeface="IRAban" panose="02000503000000020002" pitchFamily="2" charset="-78"/>
                <a:cs typeface="IRAban" panose="02000503000000020002" pitchFamily="2" charset="-78"/>
              </a:rPr>
              <a:t>اعداد اغلب معنای خاصی در تحلیل متنی ندارند.</a:t>
            </a:r>
            <a:endParaRPr lang="en-US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fa-IR" sz="1600" i="1" dirty="0">
                <a:latin typeface="IRAban" panose="02000503000000020002" pitchFamily="2" charset="-78"/>
                <a:cs typeface="IRAban" panose="02000503000000020002" pitchFamily="2" charset="-78"/>
              </a:rPr>
              <a:t>"</a:t>
            </a:r>
            <a:r>
              <a:rPr lang="en-US" sz="1600" i="1" dirty="0">
                <a:latin typeface="IRAban" panose="02000503000000020002" pitchFamily="2" charset="-78"/>
                <a:cs typeface="IRAban" panose="02000503000000020002" pitchFamily="2" charset="-78"/>
              </a:rPr>
              <a:t>The price is 100 dollars."</a:t>
            </a:r>
            <a:r>
              <a:rPr lang="en-US" sz="1600" dirty="0">
                <a:latin typeface="IRAban" panose="02000503000000020002" pitchFamily="2" charset="-78"/>
                <a:cs typeface="IRAban" panose="02000503000000020002" pitchFamily="2" charset="-78"/>
              </a:rPr>
              <a:t> → </a:t>
            </a:r>
            <a:r>
              <a:rPr lang="en-US" sz="1600" i="1" dirty="0">
                <a:latin typeface="IRAban" panose="02000503000000020002" pitchFamily="2" charset="-78"/>
                <a:cs typeface="IRAban" panose="02000503000000020002" pitchFamily="2" charset="-78"/>
              </a:rPr>
              <a:t>"The price is dollars</a:t>
            </a:r>
            <a:endParaRPr lang="en-US" sz="1600" dirty="0"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4A8795-53EB-9C7E-2BBB-2EFE6C8539BE}"/>
              </a:ext>
            </a:extLst>
          </p:cNvPr>
          <p:cNvSpPr txBox="1"/>
          <p:nvPr/>
        </p:nvSpPr>
        <p:spPr>
          <a:xfrm>
            <a:off x="2740173" y="4992313"/>
            <a:ext cx="6094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400" b="1" dirty="0">
                <a:latin typeface="+mj-lt"/>
                <a:cs typeface="IRAban" panose="02000503000000020002" pitchFamily="2" charset="-78"/>
              </a:rPr>
              <a:t>Spelling Correction</a:t>
            </a:r>
          </a:p>
          <a:p>
            <a:pPr algn="r" rtl="1"/>
            <a:endParaRPr lang="en-US" sz="1400" b="1" dirty="0">
              <a:latin typeface="+mj-lt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latin typeface="IRAban" panose="02000503000000020002" pitchFamily="2" charset="-78"/>
                <a:cs typeface="IRAban" panose="02000503000000020002" pitchFamily="2" charset="-78"/>
              </a:rPr>
              <a:t>اصلاح اشتباهات املایی.</a:t>
            </a:r>
            <a:endParaRPr lang="en-US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fa-IR" sz="1600" i="1" dirty="0">
                <a:latin typeface="IRAban" panose="02000503000000020002" pitchFamily="2" charset="-78"/>
                <a:cs typeface="IRAban" panose="02000503000000020002" pitchFamily="2" charset="-78"/>
              </a:rPr>
              <a:t>"</a:t>
            </a:r>
            <a:r>
              <a:rPr lang="en-US" sz="1600" i="1" dirty="0" err="1">
                <a:latin typeface="IRAban" panose="02000503000000020002" pitchFamily="2" charset="-78"/>
                <a:cs typeface="IRAban" panose="02000503000000020002" pitchFamily="2" charset="-78"/>
              </a:rPr>
              <a:t>heloo</a:t>
            </a:r>
            <a:r>
              <a:rPr lang="en-US" sz="1600" i="1" dirty="0">
                <a:latin typeface="IRAban" panose="02000503000000020002" pitchFamily="2" charset="-78"/>
                <a:cs typeface="IRAban" panose="02000503000000020002" pitchFamily="2" charset="-78"/>
              </a:rPr>
              <a:t>"</a:t>
            </a:r>
            <a:r>
              <a:rPr lang="en-US" sz="1600" dirty="0">
                <a:latin typeface="IRAban" panose="02000503000000020002" pitchFamily="2" charset="-78"/>
                <a:cs typeface="IRAban" panose="02000503000000020002" pitchFamily="2" charset="-78"/>
              </a:rPr>
              <a:t> → </a:t>
            </a:r>
            <a:r>
              <a:rPr lang="en-US" sz="1600" i="1" dirty="0">
                <a:latin typeface="IRAban" panose="02000503000000020002" pitchFamily="2" charset="-78"/>
                <a:cs typeface="IRAban" panose="02000503000000020002" pitchFamily="2" charset="-78"/>
              </a:rPr>
              <a:t>"hello"</a:t>
            </a:r>
            <a:endParaRPr lang="en-US" sz="1600" dirty="0"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0247E4-3B0D-59EE-B039-A54C3F3525A1}"/>
              </a:ext>
            </a:extLst>
          </p:cNvPr>
          <p:cNvSpPr txBox="1"/>
          <p:nvPr/>
        </p:nvSpPr>
        <p:spPr>
          <a:xfrm>
            <a:off x="-1862843" y="4992313"/>
            <a:ext cx="609499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1400" b="1" dirty="0">
                <a:latin typeface="+mj-lt"/>
                <a:cs typeface="IRAban" panose="02000503000000020002" pitchFamily="2" charset="-78"/>
              </a:rPr>
              <a:t>Expanding Contractions</a:t>
            </a:r>
          </a:p>
          <a:p>
            <a:pPr algn="r" rtl="1"/>
            <a:endParaRPr lang="en-US" sz="1400" b="1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latin typeface="IRAban" panose="02000503000000020002" pitchFamily="2" charset="-78"/>
                <a:cs typeface="IRAban" panose="02000503000000020002" pitchFamily="2" charset="-78"/>
              </a:rPr>
              <a:t> تبدیل کلمات اختصاری به شکل کامل آن‌ها</a:t>
            </a:r>
            <a:endParaRPr lang="en-US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en-US" sz="1400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fa-IR" i="1" dirty="0">
                <a:latin typeface="IRAban" panose="02000503000000020002" pitchFamily="2" charset="-78"/>
                <a:cs typeface="IRAban" panose="02000503000000020002" pitchFamily="2" charset="-78"/>
              </a:rPr>
              <a:t>"</a:t>
            </a:r>
            <a:r>
              <a:rPr lang="en-US" i="1" dirty="0">
                <a:latin typeface="IRAban" panose="02000503000000020002" pitchFamily="2" charset="-78"/>
                <a:cs typeface="IRAban" panose="02000503000000020002" pitchFamily="2" charset="-78"/>
              </a:rPr>
              <a:t>don't"</a:t>
            </a:r>
            <a:r>
              <a:rPr lang="en-US" dirty="0">
                <a:latin typeface="IRAban" panose="02000503000000020002" pitchFamily="2" charset="-78"/>
                <a:cs typeface="IRAban" panose="02000503000000020002" pitchFamily="2" charset="-78"/>
              </a:rPr>
              <a:t> → </a:t>
            </a:r>
            <a:r>
              <a:rPr lang="en-US" i="1" dirty="0">
                <a:latin typeface="IRAban" panose="02000503000000020002" pitchFamily="2" charset="-78"/>
                <a:cs typeface="IRAban" panose="02000503000000020002" pitchFamily="2" charset="-78"/>
              </a:rPr>
              <a:t>"do not"</a:t>
            </a:r>
            <a:endParaRPr lang="en-US" dirty="0"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en-US" i="1" dirty="0">
                <a:latin typeface="IRAban" panose="02000503000000020002" pitchFamily="2" charset="-78"/>
                <a:cs typeface="IRAban" panose="02000503000000020002" pitchFamily="2" charset="-78"/>
              </a:rPr>
              <a:t>"I'm"</a:t>
            </a:r>
            <a:r>
              <a:rPr lang="en-US" dirty="0">
                <a:latin typeface="IRAban" panose="02000503000000020002" pitchFamily="2" charset="-78"/>
                <a:cs typeface="IRAban" panose="02000503000000020002" pitchFamily="2" charset="-78"/>
              </a:rPr>
              <a:t> → </a:t>
            </a:r>
            <a:r>
              <a:rPr lang="en-US" i="1" dirty="0">
                <a:latin typeface="IRAban" panose="02000503000000020002" pitchFamily="2" charset="-78"/>
                <a:cs typeface="IRAban" panose="02000503000000020002" pitchFamily="2" charset="-78"/>
              </a:rPr>
              <a:t>"I am"</a:t>
            </a:r>
            <a:endParaRPr lang="en-US" dirty="0"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27520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255" y="-12302"/>
            <a:ext cx="7796464" cy="705245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Steps </a:t>
            </a:r>
            <a:r>
              <a:rPr lang="en-US" sz="2000" b="0" dirty="0">
                <a:solidFill>
                  <a:schemeClr val="tx1"/>
                </a:solidFill>
              </a:rPr>
              <a:t>of 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948" y="1258667"/>
            <a:ext cx="3283119" cy="615785"/>
          </a:xfrm>
        </p:spPr>
        <p:txBody>
          <a:bodyPr>
            <a:normAutofit/>
          </a:bodyPr>
          <a:lstStyle/>
          <a:p>
            <a:pPr rtl="1"/>
            <a:r>
              <a:rPr lang="en-US" sz="2400" dirty="0">
                <a:latin typeface="+mj-lt"/>
              </a:rPr>
              <a:t>1.Tokenization:</a:t>
            </a:r>
          </a:p>
          <a:p>
            <a:pPr rtl="1"/>
            <a:endParaRPr lang="en-US" dirty="0">
              <a:latin typeface="+mj-lt"/>
            </a:endParaRPr>
          </a:p>
          <a:p>
            <a:pPr rtl="1"/>
            <a:endParaRPr 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5EA5F-A374-17F2-086B-40C65D694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5" y="1647470"/>
            <a:ext cx="7340394" cy="2396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63AD3B-BB36-4BD1-5D8F-F4DB924BA694}"/>
              </a:ext>
            </a:extLst>
          </p:cNvPr>
          <p:cNvSpPr txBox="1"/>
          <p:nvPr/>
        </p:nvSpPr>
        <p:spPr>
          <a:xfrm>
            <a:off x="447145" y="4416643"/>
            <a:ext cx="60949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sz="2400" dirty="0">
                <a:solidFill>
                  <a:schemeClr val="accent6"/>
                </a:solidFill>
                <a:latin typeface="+mj-lt"/>
              </a:rPr>
              <a:t>2.stemming:</a:t>
            </a:r>
          </a:p>
          <a:p>
            <a:pPr rtl="1"/>
            <a:endParaRPr lang="en-US" dirty="0">
              <a:latin typeface="+mj-lt"/>
            </a:endParaRPr>
          </a:p>
          <a:p>
            <a:pPr rtl="1"/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8C98D-7E22-B6EC-349C-9E2343FD4690}"/>
              </a:ext>
            </a:extLst>
          </p:cNvPr>
          <p:cNvSpPr txBox="1"/>
          <p:nvPr/>
        </p:nvSpPr>
        <p:spPr>
          <a:xfrm>
            <a:off x="832069" y="5080673"/>
            <a:ext cx="14839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Invented</a:t>
            </a:r>
          </a:p>
          <a:p>
            <a:r>
              <a:rPr lang="en-US" sz="2000" dirty="0">
                <a:latin typeface="+mj-lt"/>
              </a:rPr>
              <a:t>Inventing</a:t>
            </a:r>
          </a:p>
          <a:p>
            <a:r>
              <a:rPr lang="en-US" sz="2000" dirty="0">
                <a:latin typeface="+mj-lt"/>
              </a:rPr>
              <a:t>invents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5166BC3-BE38-6340-1841-D46FA75C2330}"/>
              </a:ext>
            </a:extLst>
          </p:cNvPr>
          <p:cNvSpPr/>
          <p:nvPr/>
        </p:nvSpPr>
        <p:spPr>
          <a:xfrm>
            <a:off x="2473722" y="5377398"/>
            <a:ext cx="769065" cy="392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AC0614-FC53-20AB-3137-C789183DEF52}"/>
              </a:ext>
            </a:extLst>
          </p:cNvPr>
          <p:cNvSpPr txBox="1"/>
          <p:nvPr/>
        </p:nvSpPr>
        <p:spPr>
          <a:xfrm>
            <a:off x="3604067" y="5408490"/>
            <a:ext cx="1041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invent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A1D83-9D0D-4771-788D-F502BD88364F}"/>
              </a:ext>
            </a:extLst>
          </p:cNvPr>
          <p:cNvSpPr txBox="1"/>
          <p:nvPr/>
        </p:nvSpPr>
        <p:spPr>
          <a:xfrm>
            <a:off x="5063375" y="5213937"/>
            <a:ext cx="16094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University</a:t>
            </a:r>
          </a:p>
          <a:p>
            <a:r>
              <a:rPr lang="en-US" sz="2000" dirty="0">
                <a:latin typeface="+mj-lt"/>
              </a:rPr>
              <a:t>universal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73D44DD-D69E-F247-6401-BA3E74C3297F}"/>
              </a:ext>
            </a:extLst>
          </p:cNvPr>
          <p:cNvSpPr/>
          <p:nvPr/>
        </p:nvSpPr>
        <p:spPr>
          <a:xfrm>
            <a:off x="6837894" y="5392491"/>
            <a:ext cx="769065" cy="392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30E522-2181-86FB-B1AF-04D2B72B84F9}"/>
              </a:ext>
            </a:extLst>
          </p:cNvPr>
          <p:cNvCxnSpPr/>
          <p:nvPr/>
        </p:nvCxnSpPr>
        <p:spPr>
          <a:xfrm>
            <a:off x="4941393" y="4565944"/>
            <a:ext cx="0" cy="185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6AF3D5-5E7D-B774-C2D1-04DBE32873D0}"/>
              </a:ext>
            </a:extLst>
          </p:cNvPr>
          <p:cNvSpPr txBox="1"/>
          <p:nvPr/>
        </p:nvSpPr>
        <p:spPr>
          <a:xfrm>
            <a:off x="7606959" y="5377398"/>
            <a:ext cx="147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universe?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D2FB2-A765-AD6F-1543-5C5AB2B6F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C42C-6535-B9C8-D019-460A1650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8255" y="-12302"/>
            <a:ext cx="7796464" cy="705245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Steps </a:t>
            </a:r>
            <a:r>
              <a:rPr lang="en-US" sz="2000" b="0" dirty="0">
                <a:solidFill>
                  <a:schemeClr val="tx1"/>
                </a:solidFill>
              </a:rPr>
              <a:t>of processing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06BF59-3686-1371-9294-913C644D1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762FB360-37FD-3B61-DEDE-A83FA8571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948" y="1258667"/>
            <a:ext cx="3283119" cy="615785"/>
          </a:xfrm>
        </p:spPr>
        <p:txBody>
          <a:bodyPr>
            <a:normAutofit/>
          </a:bodyPr>
          <a:lstStyle/>
          <a:p>
            <a:pPr rtl="1"/>
            <a:r>
              <a:rPr lang="en-US" sz="2400" b="1" dirty="0">
                <a:latin typeface="+mj-lt"/>
              </a:rPr>
              <a:t>3. Lemmatization:</a:t>
            </a:r>
          </a:p>
          <a:p>
            <a:pPr rtl="1"/>
            <a:endParaRPr lang="en-US" sz="2400" b="1" dirty="0">
              <a:latin typeface="+mj-lt"/>
            </a:endParaRPr>
          </a:p>
          <a:p>
            <a:pPr rtl="1"/>
            <a:endParaRPr lang="en-US" sz="24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5FC5F-4DA3-B28E-6EDE-DB1DAF593A08}"/>
              </a:ext>
            </a:extLst>
          </p:cNvPr>
          <p:cNvSpPr txBox="1"/>
          <p:nvPr/>
        </p:nvSpPr>
        <p:spPr>
          <a:xfrm>
            <a:off x="320948" y="3919640"/>
            <a:ext cx="60949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sz="2400" dirty="0">
                <a:solidFill>
                  <a:schemeClr val="accent6"/>
                </a:solidFill>
                <a:latin typeface="+mj-lt"/>
              </a:rPr>
              <a:t>4. Part of Speech Tagging: </a:t>
            </a:r>
          </a:p>
          <a:p>
            <a:pPr rtl="1"/>
            <a:endParaRPr lang="en-US" dirty="0">
              <a:latin typeface="+mj-lt"/>
            </a:endParaRPr>
          </a:p>
          <a:p>
            <a:pPr rtl="1"/>
            <a:endParaRPr lang="en-US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7F8A15-6C80-777F-7B76-D28303213B6A}"/>
              </a:ext>
            </a:extLst>
          </p:cNvPr>
          <p:cNvSpPr txBox="1"/>
          <p:nvPr/>
        </p:nvSpPr>
        <p:spPr>
          <a:xfrm>
            <a:off x="879579" y="1621691"/>
            <a:ext cx="7107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sz="1600" dirty="0">
                <a:latin typeface="IRAban" panose="02000503000000020002" pitchFamily="2" charset="-78"/>
                <a:cs typeface="IRAban" panose="02000503000000020002" pitchFamily="2" charset="-78"/>
              </a:rPr>
              <a:t>لم‌سازی یک توکن را از طریق یک تعریف لغت‌نامه‌ای بررسی می‌کند و ریشه معنایی آن را پیدا می‌کند</a:t>
            </a:r>
            <a:endParaRPr lang="en-US" sz="1600" dirty="0"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2E861D-3D8D-E58E-0422-6123492BA246}"/>
              </a:ext>
            </a:extLst>
          </p:cNvPr>
          <p:cNvSpPr txBox="1"/>
          <p:nvPr/>
        </p:nvSpPr>
        <p:spPr>
          <a:xfrm>
            <a:off x="447145" y="2538482"/>
            <a:ext cx="1040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better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7EF34BB-DC74-1BF9-D496-8EAC2EF09ACD}"/>
              </a:ext>
            </a:extLst>
          </p:cNvPr>
          <p:cNvSpPr/>
          <p:nvPr/>
        </p:nvSpPr>
        <p:spPr>
          <a:xfrm>
            <a:off x="1704657" y="2579349"/>
            <a:ext cx="769065" cy="3920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EC3EA8-6C22-BE82-6999-561B9BED51EA}"/>
              </a:ext>
            </a:extLst>
          </p:cNvPr>
          <p:cNvSpPr txBox="1"/>
          <p:nvPr/>
        </p:nvSpPr>
        <p:spPr>
          <a:xfrm>
            <a:off x="2790594" y="2548991"/>
            <a:ext cx="3355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+mj-lt"/>
              </a:rPr>
              <a:t>Good          </a:t>
            </a:r>
            <a:r>
              <a:rPr lang="en-US" sz="1600" dirty="0">
                <a:latin typeface="+mj-lt"/>
              </a:rPr>
              <a:t>not</a:t>
            </a:r>
            <a:r>
              <a:rPr lang="en-US" sz="2000" dirty="0">
                <a:latin typeface="+mj-lt"/>
              </a:rPr>
              <a:t>        bet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C4C45A3-BFF3-62B5-1E0F-414091E59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20" y="4251654"/>
            <a:ext cx="4982270" cy="221010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BB225BA-58A2-6415-BBE8-069BBBA62866}"/>
              </a:ext>
            </a:extLst>
          </p:cNvPr>
          <p:cNvSpPr/>
          <p:nvPr/>
        </p:nvSpPr>
        <p:spPr>
          <a:xfrm>
            <a:off x="557119" y="5866952"/>
            <a:ext cx="4814224" cy="40011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1CD3B1-F7E5-D7E0-37AD-01D22290BCCA}"/>
              </a:ext>
            </a:extLst>
          </p:cNvPr>
          <p:cNvSpPr txBox="1"/>
          <p:nvPr/>
        </p:nvSpPr>
        <p:spPr>
          <a:xfrm>
            <a:off x="5694563" y="4662275"/>
            <a:ext cx="2972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I’m going make dinner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4E5E9B9-1AA4-5DD5-0D04-0E43DB86A37C}"/>
              </a:ext>
            </a:extLst>
          </p:cNvPr>
          <p:cNvCxnSpPr>
            <a:cxnSpLocks/>
          </p:cNvCxnSpPr>
          <p:nvPr/>
        </p:nvCxnSpPr>
        <p:spPr>
          <a:xfrm>
            <a:off x="5643846" y="4427471"/>
            <a:ext cx="14003" cy="2034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D926561-0B99-A1A2-5B01-BA7FAF0298C0}"/>
              </a:ext>
            </a:extLst>
          </p:cNvPr>
          <p:cNvSpPr txBox="1"/>
          <p:nvPr/>
        </p:nvSpPr>
        <p:spPr>
          <a:xfrm>
            <a:off x="5694563" y="5599043"/>
            <a:ext cx="335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What make is your phone</a:t>
            </a:r>
          </a:p>
        </p:txBody>
      </p:sp>
    </p:spTree>
    <p:extLst>
      <p:ext uri="{BB962C8B-B14F-4D97-AF65-F5344CB8AC3E}">
        <p14:creationId xmlns:p14="http://schemas.microsoft.com/office/powerpoint/2010/main" val="239523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8EFEA41-1181-238A-CBB8-206A8B20E2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E0A693-D7BF-7F34-A7B0-AE1C4EB990FB}"/>
              </a:ext>
            </a:extLst>
          </p:cNvPr>
          <p:cNvSpPr txBox="1"/>
          <p:nvPr/>
        </p:nvSpPr>
        <p:spPr>
          <a:xfrm>
            <a:off x="442061" y="765338"/>
            <a:ext cx="611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+mj-lt"/>
              </a:rPr>
              <a:t>5.Named Entity Recognition: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1D98E9-C23E-C0C8-B4D7-15DBD30988ED}"/>
              </a:ext>
            </a:extLst>
          </p:cNvPr>
          <p:cNvSpPr txBox="1"/>
          <p:nvPr/>
        </p:nvSpPr>
        <p:spPr>
          <a:xfrm>
            <a:off x="678230" y="1720840"/>
            <a:ext cx="814928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Lionel Messi plays football for Inter Miami in the United States.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NER Output: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"Lionel Messi" → Person</a:t>
            </a:r>
            <a:r>
              <a:rPr lang="en-US" dirty="0">
                <a:latin typeface="+mj-lt"/>
              </a:rPr>
              <a:t> (Category: PERSON)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"football" → Sport </a:t>
            </a:r>
            <a:r>
              <a:rPr lang="en-US" dirty="0">
                <a:latin typeface="+mj-lt"/>
              </a:rPr>
              <a:t>(Category: SPORT)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"Inter Miami" → Organization </a:t>
            </a:r>
            <a:r>
              <a:rPr lang="en-US" dirty="0">
                <a:latin typeface="+mj-lt"/>
              </a:rPr>
              <a:t>(Category: ORGANIZATION)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"United States" → Location </a:t>
            </a:r>
            <a:r>
              <a:rPr lang="en-US" dirty="0">
                <a:latin typeface="+mj-lt"/>
              </a:rPr>
              <a:t>(Category: LOCATION)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4C0907-687E-AAF0-51AC-C428536F9F83}"/>
              </a:ext>
            </a:extLst>
          </p:cNvPr>
          <p:cNvSpPr txBox="1"/>
          <p:nvPr/>
        </p:nvSpPr>
        <p:spPr>
          <a:xfrm>
            <a:off x="2064970" y="5469823"/>
            <a:ext cx="61161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این ابزارها بخشی از مجموعه ابزارهای قدرتمندی هستند که در</a:t>
            </a:r>
            <a:r>
              <a:rPr lang="en-US" sz="16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NLP </a:t>
            </a:r>
            <a:r>
              <a:rPr lang="fa-IR" sz="16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به کار می‌روند تا متن غیرساختارمند انسانی را به داده‌های ساختاریافته‌ای تبدیل کنند که کامپیوتر بتواند آن را درک و پردازش کند.</a:t>
            </a:r>
            <a:endParaRPr lang="en-US" sz="16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32B43F-6EF2-2DFD-AE43-AE713337578F}"/>
              </a:ext>
            </a:extLst>
          </p:cNvPr>
          <p:cNvCxnSpPr>
            <a:cxnSpLocks/>
          </p:cNvCxnSpPr>
          <p:nvPr/>
        </p:nvCxnSpPr>
        <p:spPr>
          <a:xfrm flipH="1" flipV="1">
            <a:off x="1223237" y="5267157"/>
            <a:ext cx="7381812" cy="72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065" y="333060"/>
            <a:ext cx="4801792" cy="595628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challenges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41975-FAAC-698A-BD8E-75FB3EDE50F5}"/>
              </a:ext>
            </a:extLst>
          </p:cNvPr>
          <p:cNvSpPr txBox="1"/>
          <p:nvPr/>
        </p:nvSpPr>
        <p:spPr>
          <a:xfrm>
            <a:off x="1671355" y="1143949"/>
            <a:ext cx="1013106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. </a:t>
            </a:r>
            <a:r>
              <a:rPr lang="fa-IR" sz="1600" b="1" dirty="0">
                <a:latin typeface="IRAban" panose="02000503000000020002" pitchFamily="2" charset="-78"/>
                <a:cs typeface="IRAban" panose="02000503000000020002" pitchFamily="2" charset="-78"/>
              </a:rPr>
              <a:t>چندمعنایی</a:t>
            </a:r>
            <a:r>
              <a:rPr lang="fa-IR" sz="16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</a:t>
            </a:r>
            <a:endParaRPr lang="en-US" sz="1600" b="1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r>
              <a:rPr lang="en-US" sz="16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Ambiguity</a:t>
            </a:r>
            <a:r>
              <a:rPr lang="fa-IR" sz="16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زبان انسانی اغلب مبهم است و کلمات یا جملات می‌توانند معانی مختلفی داشته باشند.</a:t>
            </a:r>
            <a:endParaRPr lang="en-US" sz="16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b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</a:br>
            <a:r>
              <a:rPr lang="fa-IR" sz="1400" i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مثال: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"بانک" می‌تواند به معنای یک مؤسسه مالی یا کناره یک رود باشد.</a:t>
            </a:r>
            <a:b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</a:br>
            <a:r>
              <a:rPr lang="fa-IR" sz="1400" i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مثال: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"او کتاب خواند و نوشت." (چه کسی نوشت؟)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0FEE1-045E-7ACC-F649-B7ACED59E824}"/>
              </a:ext>
            </a:extLst>
          </p:cNvPr>
          <p:cNvSpPr txBox="1"/>
          <p:nvPr/>
        </p:nvSpPr>
        <p:spPr>
          <a:xfrm>
            <a:off x="2756826" y="2721114"/>
            <a:ext cx="904559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1" dirty="0">
                <a:latin typeface="IRAban" panose="02000503000000020002" pitchFamily="2" charset="-78"/>
                <a:cs typeface="IRAban" panose="02000503000000020002" pitchFamily="2" charset="-78"/>
              </a:rPr>
              <a:t>داده‌های آموزش ناکافی یا بایاس‌دار</a:t>
            </a:r>
          </a:p>
          <a:p>
            <a:pPr algn="r" rtl="1"/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کیفیت داده‌هایی که مدل‌های 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NLP 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با آن آموزش می‌بینند بسیار مهم است.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بایاس داده‌ها: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مدل‌هایی که بر اساس داده‌های بایاس‌دار آموزش دیده‌اند ممکن است رفتارهای نامناسبی داشته باشند.</a:t>
            </a:r>
            <a:b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</a:br>
            <a:r>
              <a:rPr lang="fa-IR" sz="1400" i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مثال: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تمایلات جنسیتی یا نژادی در داده‌ها.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A051A2-8799-3850-E5C7-E87663C8CE3F}"/>
              </a:ext>
            </a:extLst>
          </p:cNvPr>
          <p:cNvSpPr txBox="1"/>
          <p:nvPr/>
        </p:nvSpPr>
        <p:spPr>
          <a:xfrm>
            <a:off x="6406857" y="4424540"/>
            <a:ext cx="539556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1" dirty="0">
                <a:latin typeface="IRAban" panose="02000503000000020002" pitchFamily="2" charset="-78"/>
                <a:cs typeface="IRAban" panose="02000503000000020002" pitchFamily="2" charset="-78"/>
              </a:rPr>
              <a:t>تشخیص احساسات </a:t>
            </a:r>
            <a:r>
              <a:rPr lang="en-US" sz="1600" b="1" dirty="0">
                <a:latin typeface="IRAban" panose="02000503000000020002" pitchFamily="2" charset="-78"/>
                <a:cs typeface="IRAban" panose="02000503000000020002" pitchFamily="2" charset="-78"/>
              </a:rPr>
              <a:t>Sentiment Analysis</a:t>
            </a:r>
          </a:p>
          <a:p>
            <a:pPr algn="r" rtl="1"/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تشخیص دقیق احساسات در متن با چالش‌های زیادی همراه است.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ابهام احساسات: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برخی عبارات می‌توانند احساسات متضادی داشته باشند.</a:t>
            </a:r>
            <a:b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</a:br>
            <a:r>
              <a:rPr lang="fa-IR" sz="1400" i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مثال: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"خیلی خوب بود... برای یک آماتور.“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b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احساسات پیچیده: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تحلیل طنز، کنایه و استعاره دشوار است.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718441-05BF-8F0D-12E1-7E1FE47D78E7}"/>
              </a:ext>
            </a:extLst>
          </p:cNvPr>
          <p:cNvSpPr txBox="1"/>
          <p:nvPr/>
        </p:nvSpPr>
        <p:spPr>
          <a:xfrm>
            <a:off x="756873" y="4424540"/>
            <a:ext cx="502827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600" b="1" dirty="0">
                <a:latin typeface="IRAban" panose="02000503000000020002" pitchFamily="2" charset="-78"/>
                <a:cs typeface="IRAban" panose="02000503000000020002" pitchFamily="2" charset="-78"/>
              </a:rPr>
              <a:t>مدیریت زبان‌های غیررسمی و نوشتارهای جدید</a:t>
            </a:r>
          </a:p>
          <a:p>
            <a:pPr algn="r" rtl="1"/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استفاده از زبان عامیانه، اختصارات و شکلک‌ها (مانند پیام‌رسانی اینترنتی) یک چالش است.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/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تشخیص کلمات مخفف و اختصارات.</a:t>
            </a:r>
            <a:b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</a:br>
            <a:r>
              <a:rPr lang="fa-IR" sz="1400" i="1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مثال: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 "</a:t>
            </a:r>
            <a:r>
              <a:rPr lang="en-US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LOL" </a:t>
            </a: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به معنای "خندیدن بلند" است.</a:t>
            </a:r>
            <a:endParaRPr lang="en-US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fa-IR" sz="14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14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تحلیل متن همراه با ایموجی</a:t>
            </a:r>
            <a:r>
              <a:rPr lang="fa-IR" sz="1400" dirty="0">
                <a:latin typeface="IRAban" panose="02000503000000020002" pitchFamily="2" charset="-78"/>
                <a:cs typeface="IRAban" panose="02000503000000020002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4">
            <a:extLst>
              <a:ext uri="{FF2B5EF4-FFF2-40B4-BE49-F238E27FC236}">
                <a16:creationId xmlns:a16="http://schemas.microsoft.com/office/drawing/2014/main" id="{57ED80E7-87DF-680A-AAE1-8AC58EAE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9184" y="478395"/>
            <a:ext cx="4801792" cy="595628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Use cases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AAC727-7114-C2EE-706D-BDCBDA50D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56" y="2279822"/>
            <a:ext cx="6089423" cy="30404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463138-B355-ACA4-F12B-04A2F58B9631}"/>
              </a:ext>
            </a:extLst>
          </p:cNvPr>
          <p:cNvSpPr txBox="1"/>
          <p:nvPr/>
        </p:nvSpPr>
        <p:spPr>
          <a:xfrm>
            <a:off x="8124568" y="1878871"/>
            <a:ext cx="3472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چت‌بات‌ها و دستیارهای مجازی</a:t>
            </a:r>
            <a:endParaRPr lang="en-US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3C28F-3A8A-90E6-0F39-822847F19FA9}"/>
              </a:ext>
            </a:extLst>
          </p:cNvPr>
          <p:cNvSpPr txBox="1"/>
          <p:nvPr/>
        </p:nvSpPr>
        <p:spPr>
          <a:xfrm>
            <a:off x="9264279" y="5114215"/>
            <a:ext cx="259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سیستم‌های توصیه‌گر</a:t>
            </a:r>
            <a:endParaRPr lang="en-US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EE3CA-0A4D-B1F1-6041-1FDF8DAB4F78}"/>
              </a:ext>
            </a:extLst>
          </p:cNvPr>
          <p:cNvSpPr txBox="1"/>
          <p:nvPr/>
        </p:nvSpPr>
        <p:spPr>
          <a:xfrm>
            <a:off x="275093" y="4193845"/>
            <a:ext cx="32033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0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تحلیل شبکه‌های اجتماعی</a:t>
            </a:r>
            <a:endParaRPr lang="en-US" sz="20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1DEC45-FF13-B3EF-530B-ADB0639C187E}"/>
              </a:ext>
            </a:extLst>
          </p:cNvPr>
          <p:cNvSpPr txBox="1"/>
          <p:nvPr/>
        </p:nvSpPr>
        <p:spPr>
          <a:xfrm>
            <a:off x="3933042" y="1215257"/>
            <a:ext cx="4325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a-IR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تحلیل و پردازش متون حقوقی و پزشکی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8A0657-C0AC-6056-0C4B-F06765E06711}"/>
              </a:ext>
            </a:extLst>
          </p:cNvPr>
          <p:cNvSpPr txBox="1"/>
          <p:nvPr/>
        </p:nvSpPr>
        <p:spPr>
          <a:xfrm>
            <a:off x="1081246" y="2158583"/>
            <a:ext cx="18464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0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ترجمه ماشینی</a:t>
            </a:r>
            <a:endParaRPr lang="en-US" sz="20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962BD-12AD-7605-1527-8C8E2525AB0E}"/>
              </a:ext>
            </a:extLst>
          </p:cNvPr>
          <p:cNvSpPr txBox="1"/>
          <p:nvPr/>
        </p:nvSpPr>
        <p:spPr>
          <a:xfrm>
            <a:off x="1876759" y="5737711"/>
            <a:ext cx="37777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000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تحلیل احساسات</a:t>
            </a:r>
            <a:endParaRPr lang="en-US" sz="2000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1B369E-34ED-D931-72C4-1EAADD3B1A88}"/>
              </a:ext>
            </a:extLst>
          </p:cNvPr>
          <p:cNvSpPr txBox="1"/>
          <p:nvPr/>
        </p:nvSpPr>
        <p:spPr>
          <a:xfrm>
            <a:off x="5654551" y="6031993"/>
            <a:ext cx="3900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تشخیص گفتار و تبدیل متن به گفتار </a:t>
            </a:r>
            <a:endParaRPr lang="en-US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4E26AD-EE06-D02B-58EF-230DC942526D}"/>
              </a:ext>
            </a:extLst>
          </p:cNvPr>
          <p:cNvSpPr txBox="1"/>
          <p:nvPr/>
        </p:nvSpPr>
        <p:spPr>
          <a:xfrm>
            <a:off x="9176035" y="3352939"/>
            <a:ext cx="6396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>
                <a:solidFill>
                  <a:schemeClr val="accent6"/>
                </a:solidFill>
                <a:latin typeface="IRAban" panose="02000503000000020002" pitchFamily="2" charset="-78"/>
                <a:cs typeface="IRAban" panose="02000503000000020002" pitchFamily="2" charset="-78"/>
              </a:rPr>
              <a:t>تشخیص هرزنامه</a:t>
            </a:r>
            <a:endParaRPr lang="en-US" dirty="0">
              <a:solidFill>
                <a:schemeClr val="accent6"/>
              </a:solidFill>
              <a:latin typeface="IRAban" panose="02000503000000020002" pitchFamily="2" charset="-78"/>
              <a:cs typeface="IRAban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11" y="563173"/>
            <a:ext cx="3167094" cy="1651801"/>
          </a:xfrm>
        </p:spPr>
        <p:txBody>
          <a:bodyPr/>
          <a:lstStyle/>
          <a:p>
            <a:r>
              <a:rPr lang="en-US" sz="4400" dirty="0"/>
              <a:t>Thank </a:t>
            </a:r>
            <a:br>
              <a:rPr lang="en-US" sz="4400" dirty="0"/>
            </a:br>
            <a:r>
              <a:rPr lang="en-US" sz="4400" dirty="0"/>
              <a:t>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597" y="3709614"/>
            <a:ext cx="5715000" cy="2234642"/>
          </a:xfrm>
        </p:spPr>
        <p:txBody>
          <a:bodyPr/>
          <a:lstStyle/>
          <a:p>
            <a:r>
              <a:rPr lang="en-US" dirty="0"/>
              <a:t>Source: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1F918B95-C9E1-C0FB-6A78-5FF287D5D16E}"/>
              </a:ext>
            </a:extLst>
          </p:cNvPr>
          <p:cNvSpPr/>
          <p:nvPr/>
        </p:nvSpPr>
        <p:spPr>
          <a:xfrm rot="19496917">
            <a:off x="508295" y="236976"/>
            <a:ext cx="812211" cy="652393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D0007-BBDB-58EE-3225-BFA9E3059B3D}"/>
              </a:ext>
            </a:extLst>
          </p:cNvPr>
          <p:cNvSpPr txBox="1"/>
          <p:nvPr/>
        </p:nvSpPr>
        <p:spPr>
          <a:xfrm>
            <a:off x="1044659" y="2214974"/>
            <a:ext cx="2275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DF8C8C"/>
                </a:solidFill>
                <a:latin typeface="+mj-lt"/>
              </a:rPr>
              <a:t>For listening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3574F-6EF5-9308-FFD4-C38B0F285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012" y="786412"/>
            <a:ext cx="4336822" cy="3200231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C7D5CB-40AC-3FE7-961F-D4579674B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78278"/>
              </p:ext>
            </p:extLst>
          </p:nvPr>
        </p:nvGraphicFramePr>
        <p:xfrm>
          <a:off x="260594" y="4092770"/>
          <a:ext cx="11931406" cy="3474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965703">
                  <a:extLst>
                    <a:ext uri="{9D8B030D-6E8A-4147-A177-3AD203B41FA5}">
                      <a16:colId xmlns:a16="http://schemas.microsoft.com/office/drawing/2014/main" val="2320545407"/>
                    </a:ext>
                  </a:extLst>
                </a:gridCol>
                <a:gridCol w="5965703">
                  <a:extLst>
                    <a:ext uri="{9D8B030D-6E8A-4147-A177-3AD203B41FA5}">
                      <a16:colId xmlns:a16="http://schemas.microsoft.com/office/drawing/2014/main" val="2933233004"/>
                    </a:ext>
                  </a:extLst>
                </a:gridCol>
              </a:tblGrid>
              <a:tr h="536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Natural language processing: an introduction </a:t>
                      </a:r>
                      <a:r>
                        <a:rPr lang="en-US" b="1" dirty="0"/>
                        <a:t>. </a:t>
                      </a:r>
                      <a:r>
                        <a:rPr lang="en-US" b="0" dirty="0"/>
                        <a:t>By Prakash M Nadkarni, Lucila Ohno-Machado, Wendy W Chapman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202006"/>
                  </a:ext>
                </a:extLst>
              </a:tr>
              <a:tr h="7661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sng" dirty="0"/>
                        <a:t>What is NLP (natural language processing)?   </a:t>
                      </a:r>
                      <a:r>
                        <a:rPr lang="en-US" b="1" dirty="0"/>
                        <a:t>. </a:t>
                      </a:r>
                      <a:r>
                        <a:rPr lang="en-US" b="0" dirty="0"/>
                        <a:t>By Cole Stryker, Jim Holdsworth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601430"/>
                  </a:ext>
                </a:extLst>
              </a:tr>
              <a:tr h="310722">
                <a:tc>
                  <a:txBody>
                    <a:bodyPr/>
                    <a:lstStyle/>
                    <a:p>
                      <a:r>
                        <a:rPr lang="en-US" b="1" u="sng" dirty="0"/>
                        <a:t>A beginner's guide to natural language processing </a:t>
                      </a:r>
                      <a:r>
                        <a:rPr lang="en-US" b="1" dirty="0"/>
                        <a:t>. By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M. Tim Jones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083751"/>
                  </a:ext>
                </a:extLst>
              </a:tr>
              <a:tr h="3107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74402"/>
                  </a:ext>
                </a:extLst>
              </a:tr>
              <a:tr h="31072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767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399</TotalTime>
  <Words>995</Words>
  <Application>Microsoft Office PowerPoint</Application>
  <PresentationFormat>Widescreen</PresentationFormat>
  <Paragraphs>147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IRAban</vt:lpstr>
      <vt:lpstr>MV Boli</vt:lpstr>
      <vt:lpstr>Sabon Next LT</vt:lpstr>
      <vt:lpstr>Tahoma</vt:lpstr>
      <vt:lpstr>Custom</vt:lpstr>
      <vt:lpstr>  </vt:lpstr>
      <vt:lpstr> NLP پردازش زبان طبیعی در مورد آموزش کامپیوترها برای درک زبان انسان است. این به این معنی است که رایانه‌ها را قادر می‌سازید تا بخوانند، گوش دهند و به روش‌هایی که برای مردم منطقی است پاسخ دهند.</vt:lpstr>
      <vt:lpstr>PowerPoint Presentation</vt:lpstr>
      <vt:lpstr>PowerPoint Presentation</vt:lpstr>
      <vt:lpstr>- Unstructured -   add Egg and milk  to My shopping list</vt:lpstr>
      <vt:lpstr>- Unstructured -   add Egg and milk  to My shopping list</vt:lpstr>
      <vt:lpstr>Steps of processing</vt:lpstr>
      <vt:lpstr>Steps of processing</vt:lpstr>
      <vt:lpstr>Steps of processing</vt:lpstr>
      <vt:lpstr>PowerPoint Presentation</vt:lpstr>
      <vt:lpstr>challenges</vt:lpstr>
      <vt:lpstr>Use cases</vt:lpstr>
      <vt:lpstr>Thank  you 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Amir Bayati</dc:creator>
  <cp:lastModifiedBy>Amir Bayati</cp:lastModifiedBy>
  <cp:revision>3</cp:revision>
  <dcterms:created xsi:type="dcterms:W3CDTF">2024-11-15T17:50:59Z</dcterms:created>
  <dcterms:modified xsi:type="dcterms:W3CDTF">2024-11-19T21:24:36Z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